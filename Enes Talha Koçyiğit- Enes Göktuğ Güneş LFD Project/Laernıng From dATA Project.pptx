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lexandria Bold" charset="1" panose="00000000000000000000"/>
      <p:regular r:id="rId16"/>
    </p:embeddedFont>
    <p:embeddedFont>
      <p:font typeface="Garet" charset="1" panose="00000000000000000000"/>
      <p:regular r:id="rId17"/>
    </p:embeddedFont>
    <p:embeddedFont>
      <p:font typeface="Garet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3890343" y="5516388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212327">
            <a:off x="-1633813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2020970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76744">
            <a:off x="12281842" y="-3234705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2348517" y="-3496396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68325" y="3946531"/>
            <a:ext cx="12951349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LEARNING FROM 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62982" y="5048250"/>
            <a:ext cx="10162036" cy="772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44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Project Presentation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124687" y="6787658"/>
            <a:ext cx="8038626" cy="1761769"/>
            <a:chOff x="0" y="0"/>
            <a:chExt cx="10718168" cy="234902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0718168" cy="940183"/>
              <a:chOff x="0" y="0"/>
              <a:chExt cx="2117169" cy="18571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117169" cy="185715"/>
              </a:xfrm>
              <a:custGeom>
                <a:avLst/>
                <a:gdLst/>
                <a:ahLst/>
                <a:cxnLst/>
                <a:rect r="r" b="b" t="t" l="l"/>
                <a:pathLst>
                  <a:path h="185715" w="2117169">
                    <a:moveTo>
                      <a:pt x="54896" y="0"/>
                    </a:moveTo>
                    <a:lnTo>
                      <a:pt x="2062273" y="0"/>
                    </a:lnTo>
                    <a:cubicBezTo>
                      <a:pt x="2092591" y="0"/>
                      <a:pt x="2117169" y="24578"/>
                      <a:pt x="2117169" y="54896"/>
                    </a:cubicBezTo>
                    <a:lnTo>
                      <a:pt x="2117169" y="130819"/>
                    </a:lnTo>
                    <a:cubicBezTo>
                      <a:pt x="2117169" y="145378"/>
                      <a:pt x="2111385" y="159341"/>
                      <a:pt x="2101090" y="169636"/>
                    </a:cubicBezTo>
                    <a:cubicBezTo>
                      <a:pt x="2090795" y="179931"/>
                      <a:pt x="2076832" y="185715"/>
                      <a:pt x="2062273" y="185715"/>
                    </a:cubicBezTo>
                    <a:lnTo>
                      <a:pt x="54896" y="185715"/>
                    </a:lnTo>
                    <a:cubicBezTo>
                      <a:pt x="40337" y="185715"/>
                      <a:pt x="26374" y="179931"/>
                      <a:pt x="16079" y="169636"/>
                    </a:cubicBezTo>
                    <a:cubicBezTo>
                      <a:pt x="5784" y="159341"/>
                      <a:pt x="0" y="145378"/>
                      <a:pt x="0" y="130819"/>
                    </a:cubicBezTo>
                    <a:lnTo>
                      <a:pt x="0" y="54896"/>
                    </a:lnTo>
                    <a:cubicBezTo>
                      <a:pt x="0" y="40337"/>
                      <a:pt x="5784" y="26374"/>
                      <a:pt x="16079" y="16079"/>
                    </a:cubicBezTo>
                    <a:cubicBezTo>
                      <a:pt x="26374" y="5784"/>
                      <a:pt x="40337" y="0"/>
                      <a:pt x="54896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38100" cap="rnd">
                <a:solidFill>
                  <a:srgbClr val="545454"/>
                </a:solidFill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2117169" cy="2238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97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132416" y="102957"/>
              <a:ext cx="10160811" cy="6771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96"/>
                </a:lnSpc>
                <a:spcBef>
                  <a:spcPct val="0"/>
                </a:spcBef>
              </a:pPr>
              <a:r>
                <a:rPr lang="en-US" sz="3068">
                  <a:solidFill>
                    <a:srgbClr val="E9E9E9"/>
                  </a:solidFill>
                  <a:latin typeface="Garet"/>
                  <a:ea typeface="Garet"/>
                  <a:cs typeface="Garet"/>
                  <a:sym typeface="Garet"/>
                </a:rPr>
                <a:t>Enes Göktuğ Güneş - 2221251037</a:t>
              </a:r>
            </a:p>
          </p:txBody>
        </p:sp>
        <p:grpSp>
          <p:nvGrpSpPr>
            <p:cNvPr name="Group 15" id="15"/>
            <p:cNvGrpSpPr/>
            <p:nvPr/>
          </p:nvGrpSpPr>
          <p:grpSpPr>
            <a:xfrm rot="0">
              <a:off x="0" y="1408843"/>
              <a:ext cx="10718168" cy="940183"/>
              <a:chOff x="0" y="0"/>
              <a:chExt cx="2117169" cy="18571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117169" cy="185715"/>
              </a:xfrm>
              <a:custGeom>
                <a:avLst/>
                <a:gdLst/>
                <a:ahLst/>
                <a:cxnLst/>
                <a:rect r="r" b="b" t="t" l="l"/>
                <a:pathLst>
                  <a:path h="185715" w="2117169">
                    <a:moveTo>
                      <a:pt x="54896" y="0"/>
                    </a:moveTo>
                    <a:lnTo>
                      <a:pt x="2062273" y="0"/>
                    </a:lnTo>
                    <a:cubicBezTo>
                      <a:pt x="2092591" y="0"/>
                      <a:pt x="2117169" y="24578"/>
                      <a:pt x="2117169" y="54896"/>
                    </a:cubicBezTo>
                    <a:lnTo>
                      <a:pt x="2117169" y="130819"/>
                    </a:lnTo>
                    <a:cubicBezTo>
                      <a:pt x="2117169" y="145378"/>
                      <a:pt x="2111385" y="159341"/>
                      <a:pt x="2101090" y="169636"/>
                    </a:cubicBezTo>
                    <a:cubicBezTo>
                      <a:pt x="2090795" y="179931"/>
                      <a:pt x="2076832" y="185715"/>
                      <a:pt x="2062273" y="185715"/>
                    </a:cubicBezTo>
                    <a:lnTo>
                      <a:pt x="54896" y="185715"/>
                    </a:lnTo>
                    <a:cubicBezTo>
                      <a:pt x="40337" y="185715"/>
                      <a:pt x="26374" y="179931"/>
                      <a:pt x="16079" y="169636"/>
                    </a:cubicBezTo>
                    <a:cubicBezTo>
                      <a:pt x="5784" y="159341"/>
                      <a:pt x="0" y="145378"/>
                      <a:pt x="0" y="130819"/>
                    </a:cubicBezTo>
                    <a:lnTo>
                      <a:pt x="0" y="54896"/>
                    </a:lnTo>
                    <a:cubicBezTo>
                      <a:pt x="0" y="40337"/>
                      <a:pt x="5784" y="26374"/>
                      <a:pt x="16079" y="16079"/>
                    </a:cubicBezTo>
                    <a:cubicBezTo>
                      <a:pt x="26374" y="5784"/>
                      <a:pt x="40337" y="0"/>
                      <a:pt x="54896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38100" cap="rnd">
                <a:solidFill>
                  <a:srgbClr val="545454"/>
                </a:solidFill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2117169" cy="2238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97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500302" y="1476706"/>
              <a:ext cx="9425040" cy="6771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96"/>
                </a:lnSpc>
                <a:spcBef>
                  <a:spcPct val="0"/>
                </a:spcBef>
              </a:pPr>
              <a:r>
                <a:rPr lang="en-US" sz="3068">
                  <a:solidFill>
                    <a:srgbClr val="E9E9E9"/>
                  </a:solidFill>
                  <a:latin typeface="Garet"/>
                  <a:ea typeface="Garet"/>
                  <a:cs typeface="Garet"/>
                  <a:sym typeface="Garet"/>
                </a:rPr>
                <a:t>Enes Talha Koçyiğit - 2221251023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25961" y="2844600"/>
            <a:ext cx="13824082" cy="5793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b="true" sz="32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Context:</a:t>
            </a: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Rapid growth of digital journalism leads to massive amounts of unstructured text data.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b="true" sz="32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The Challenge:</a:t>
            </a: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Manual categorization is time-consuming, expensive, and impractical at scale.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b="true" sz="32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Objective:</a:t>
            </a: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Develop an automated system to classify Turkish news articles into predefined categories (Politics, Sports, Technology, etc.).</a:t>
            </a:r>
          </a:p>
          <a:p>
            <a:pPr algn="l" marL="705747" indent="-352873" lvl="1">
              <a:lnSpc>
                <a:spcPts val="457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Relevance:</a:t>
            </a: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Essential for information retrieval, personalized recommendations, and digital archiving.</a:t>
            </a:r>
          </a:p>
          <a:p>
            <a:pPr algn="l">
              <a:lnSpc>
                <a:spcPts val="4576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177377" y="1152325"/>
            <a:ext cx="15933247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b="true" sz="65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PROBLEM AND MOTIVATION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827176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1" y="0"/>
                </a:lnTo>
                <a:lnTo>
                  <a:pt x="4840371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138959"/>
            <a:ext cx="10162036" cy="772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44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The Problem Definition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25961" y="2844600"/>
            <a:ext cx="13824082" cy="6955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b="true" sz="32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Why Turkish?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Agglutinative language structure (complex morphology) presents unique challenges for feature extraction.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Need for specialized preprocessing (stemming, stop-word removal).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b="true" sz="32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Learning Goals: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Going beyond accuracy: Understanding generalization and overfitting.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Analyzing the Bias-Variance tradeoff in real-world data.</a:t>
            </a:r>
          </a:p>
          <a:p>
            <a:pPr algn="l" marL="705747" indent="-352873" lvl="1">
              <a:lnSpc>
                <a:spcPts val="4576"/>
              </a:lnSpc>
              <a:spcBef>
                <a:spcPct val="0"/>
              </a:spcBef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Comparing traditional Machine Learning vs. Neural Network approaches.</a:t>
            </a:r>
          </a:p>
          <a:p>
            <a:pPr algn="l">
              <a:lnSpc>
                <a:spcPts val="4576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177377" y="1152325"/>
            <a:ext cx="15933247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b="true" sz="65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PROBLEM AND MOTIVATION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827176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1" y="0"/>
                </a:lnTo>
                <a:lnTo>
                  <a:pt x="4840371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138959"/>
            <a:ext cx="10162036" cy="772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44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Motivation &amp; Challanges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77422" y="343477"/>
            <a:ext cx="9205169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DATA COLLECTION APPROACH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757232"/>
            <a:ext cx="8670701" cy="5212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b="true" sz="32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Data Source: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Custom dataset created via Python web scraping.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Strict adherence to website Terms of Service.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b="true" sz="32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Dataset Stats: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Size: 2,000+ labeled articles.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Classes: Multi-class distribution (Politics, Economy, Sports, etc.).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80007" y="2757232"/>
            <a:ext cx="8469921" cy="4631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b="true" sz="32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Preprocessing Steps:</a:t>
            </a: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Noise Removal: HTML tags, URLs, special characters.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Normalization: Lowercasing.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Tokenization &amp; Stop-word removal (Turkish specific).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Stemming: Reducing words to roots to handle Turkish morphology.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05153" y="3149100"/>
            <a:ext cx="15054147" cy="5661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8544" indent="-384272" lvl="1">
              <a:lnSpc>
                <a:spcPts val="4983"/>
              </a:lnSpc>
              <a:buFont typeface="Arial"/>
              <a:buChar char="•"/>
            </a:pPr>
            <a:r>
              <a:rPr lang="en-US" b="true" sz="3559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Bag-of-Words (BoW):</a:t>
            </a:r>
          </a:p>
          <a:p>
            <a:pPr algn="l" marL="768544" indent="-384272" lvl="1">
              <a:lnSpc>
                <a:spcPts val="4983"/>
              </a:lnSpc>
              <a:buFont typeface="Arial"/>
              <a:buChar char="•"/>
            </a:pPr>
            <a:r>
              <a:rPr lang="en-US" sz="355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</a:t>
            </a:r>
            <a:r>
              <a:rPr lang="en-US" sz="355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aseline frequency-based representation.</a:t>
            </a:r>
          </a:p>
          <a:p>
            <a:pPr algn="l" marL="768544" indent="-384272" lvl="1">
              <a:lnSpc>
                <a:spcPts val="4983"/>
              </a:lnSpc>
              <a:buFont typeface="Arial"/>
              <a:buChar char="•"/>
            </a:pPr>
            <a:r>
              <a:rPr lang="en-US" b="true" sz="3559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TF-IDF (Term Frequency-Inverse Document Frequency):</a:t>
            </a:r>
          </a:p>
          <a:p>
            <a:pPr algn="l" marL="768544" indent="-384272" lvl="1">
              <a:lnSpc>
                <a:spcPts val="4983"/>
              </a:lnSpc>
              <a:buFont typeface="Arial"/>
              <a:buChar char="•"/>
            </a:pPr>
            <a:r>
              <a:rPr lang="en-US" sz="355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W</a:t>
            </a:r>
            <a:r>
              <a:rPr lang="en-US" sz="355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eighted representation to highlight discriminative terms.</a:t>
            </a:r>
          </a:p>
          <a:p>
            <a:pPr algn="l" marL="768544" indent="-384272" lvl="1">
              <a:lnSpc>
                <a:spcPts val="4983"/>
              </a:lnSpc>
              <a:buFont typeface="Arial"/>
              <a:buChar char="•"/>
            </a:pPr>
            <a:r>
              <a:rPr lang="en-US" sz="355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Proved effective for reducing the impact of common words.</a:t>
            </a:r>
          </a:p>
          <a:p>
            <a:pPr algn="l" marL="768544" indent="-384272" lvl="1">
              <a:lnSpc>
                <a:spcPts val="4983"/>
              </a:lnSpc>
              <a:buFont typeface="Arial"/>
              <a:buChar char="•"/>
            </a:pPr>
            <a:r>
              <a:rPr lang="en-US" b="true" sz="3559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Custom Features:</a:t>
            </a:r>
          </a:p>
          <a:p>
            <a:pPr algn="l" marL="768544" indent="-384272" lvl="1">
              <a:lnSpc>
                <a:spcPts val="4983"/>
              </a:lnSpc>
              <a:spcBef>
                <a:spcPct val="0"/>
              </a:spcBef>
              <a:buFont typeface="Arial"/>
              <a:buChar char="•"/>
            </a:pPr>
            <a:r>
              <a:rPr lang="en-US" sz="355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Domain-specific features like document length and keyword density.</a:t>
            </a:r>
          </a:p>
          <a:p>
            <a:pPr algn="l">
              <a:lnSpc>
                <a:spcPts val="4983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177377" y="1152325"/>
            <a:ext cx="15933247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b="true" sz="65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METHODS COMPARISON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827176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1" y="0"/>
                </a:lnTo>
                <a:lnTo>
                  <a:pt x="4840371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138959"/>
            <a:ext cx="10162036" cy="772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44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Feature Engineering Strategy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576956" y="2547720"/>
            <a:ext cx="6278393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Category B: Deep Learning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Multi-Layer Perceptron (MLP): Utilized to capture non-linear relationships.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Higher expressive power but increased risk of overfitting.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177377" y="515182"/>
            <a:ext cx="15933247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b="true" sz="65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METHODS COMPARISON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827176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1" y="0"/>
                </a:lnTo>
                <a:lnTo>
                  <a:pt x="4840371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540707"/>
            <a:ext cx="10162036" cy="772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44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Models &amp; Training Strategy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2547720"/>
            <a:ext cx="6567056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Category A: Linear Models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Logistic Regression &amp; Linear SVM: Strong baselines for high-dimensional sparse text.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High bias, low variance characteristics.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5456319" y="5041483"/>
            <a:ext cx="7375363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Training Protocol: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Split: Train / Validation / Test separation.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Validation: 5-Fold Cross-Validation for hyperparameter tuning.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Metric: Optimization based on Log-Loss and F1-Score.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6634" y="2856869"/>
            <a:ext cx="9848013" cy="714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0743" indent="-395371" lvl="1">
              <a:lnSpc>
                <a:spcPts val="5127"/>
              </a:lnSpc>
              <a:buFont typeface="Arial"/>
              <a:buChar char="•"/>
            </a:pPr>
            <a:r>
              <a:rPr lang="en-US" sz="3662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Model Comparison:</a:t>
            </a:r>
          </a:p>
          <a:p>
            <a:pPr algn="l" marL="1581485" indent="-527162" lvl="2">
              <a:lnSpc>
                <a:spcPts val="5127"/>
              </a:lnSpc>
              <a:buFont typeface="Arial"/>
              <a:buChar char="⚬"/>
            </a:pPr>
            <a:r>
              <a:rPr lang="en-US" sz="3662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TF-IDF features consistently outperformed simple BoW.</a:t>
            </a:r>
          </a:p>
          <a:p>
            <a:pPr algn="l" marL="1581485" indent="-527162" lvl="2">
              <a:lnSpc>
                <a:spcPts val="5127"/>
              </a:lnSpc>
              <a:buFont typeface="Arial"/>
              <a:buChar char="⚬"/>
            </a:pPr>
            <a:r>
              <a:rPr lang="en-US" sz="3662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Linear SVM achieved the best balance of accuracy and computational efficiency.</a:t>
            </a:r>
          </a:p>
          <a:p>
            <a:pPr algn="l" marL="1581485" indent="-527162" lvl="2">
              <a:lnSpc>
                <a:spcPts val="5127"/>
              </a:lnSpc>
              <a:buFont typeface="Arial"/>
              <a:buChar char="⚬"/>
            </a:pPr>
            <a:r>
              <a:rPr lang="en-US" sz="3662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MLP showed competitive results but required more tuning for regularization.</a:t>
            </a:r>
          </a:p>
          <a:p>
            <a:pPr algn="l">
              <a:lnSpc>
                <a:spcPts val="5127"/>
              </a:lnSpc>
              <a:spcBef>
                <a:spcPct val="0"/>
              </a:spcBef>
            </a:pPr>
          </a:p>
          <a:p>
            <a:pPr algn="ctr">
              <a:lnSpc>
                <a:spcPts val="5127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212428" y="2933069"/>
            <a:ext cx="7662735" cy="5292129"/>
          </a:xfrm>
          <a:custGeom>
            <a:avLst/>
            <a:gdLst/>
            <a:ahLst/>
            <a:cxnLst/>
            <a:rect r="r" b="b" t="t" l="l"/>
            <a:pathLst>
              <a:path h="5292129" w="7662735">
                <a:moveTo>
                  <a:pt x="0" y="0"/>
                </a:moveTo>
                <a:lnTo>
                  <a:pt x="7662735" y="0"/>
                </a:lnTo>
                <a:lnTo>
                  <a:pt x="7662735" y="5292129"/>
                </a:lnTo>
                <a:lnTo>
                  <a:pt x="0" y="52921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41415" y="863511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KEY 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634" y="2160753"/>
            <a:ext cx="10162036" cy="772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b="true" sz="44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Performance Overwiev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41415" y="863511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KEY RESULTS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757368" y="2898525"/>
            <a:ext cx="12968281" cy="6803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0743" indent="-395371" lvl="1">
              <a:lnSpc>
                <a:spcPts val="5127"/>
              </a:lnSpc>
              <a:buFont typeface="Arial"/>
              <a:buChar char="•"/>
            </a:pPr>
            <a:r>
              <a:rPr lang="en-US" b="true" sz="3662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Ambiguity:</a:t>
            </a:r>
          </a:p>
          <a:p>
            <a:pPr algn="just" marL="747564" indent="-373782" lvl="1">
              <a:lnSpc>
                <a:spcPts val="4847"/>
              </a:lnSpc>
              <a:buFont typeface="Arial"/>
              <a:buChar char="•"/>
            </a:pPr>
            <a:r>
              <a:rPr lang="en-US" sz="3462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Frequent confusion between Politics and Economy classes.</a:t>
            </a:r>
          </a:p>
          <a:p>
            <a:pPr algn="just" marL="747564" indent="-373782" lvl="1">
              <a:lnSpc>
                <a:spcPts val="4847"/>
              </a:lnSpc>
              <a:buFont typeface="Arial"/>
              <a:buChar char="•"/>
            </a:pPr>
            <a:r>
              <a:rPr lang="en-US" sz="3462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3462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eason: Shared vocabulary </a:t>
            </a:r>
          </a:p>
          <a:p>
            <a:pPr algn="l" marL="790743" indent="-395371" lvl="1">
              <a:lnSpc>
                <a:spcPts val="5127"/>
              </a:lnSpc>
              <a:buFont typeface="Arial"/>
              <a:buChar char="•"/>
            </a:pPr>
            <a:r>
              <a:rPr lang="en-US" b="true" sz="3662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Class Imbalance:</a:t>
            </a:r>
          </a:p>
          <a:p>
            <a:pPr algn="l" marL="747564" indent="-373782" lvl="1">
              <a:lnSpc>
                <a:spcPts val="4847"/>
              </a:lnSpc>
              <a:buFont typeface="Arial"/>
              <a:buChar char="•"/>
            </a:pPr>
            <a:r>
              <a:rPr lang="en-US" sz="3462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Mild imbalance affected minority classes; handled via Weighted F1-Score evaluation.</a:t>
            </a:r>
          </a:p>
          <a:p>
            <a:pPr algn="l" marL="747564" indent="-373782" lvl="1">
              <a:lnSpc>
                <a:spcPts val="4847"/>
              </a:lnSpc>
              <a:buFont typeface="Arial"/>
              <a:buChar char="•"/>
            </a:pPr>
            <a:r>
              <a:rPr lang="en-US" b="true" sz="3462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Visual Inspection:</a:t>
            </a:r>
          </a:p>
          <a:p>
            <a:pPr algn="l" marL="747564" indent="-373782" lvl="1">
              <a:lnSpc>
                <a:spcPts val="4847"/>
              </a:lnSpc>
              <a:buFont typeface="Arial"/>
              <a:buChar char="•"/>
            </a:pPr>
            <a:r>
              <a:rPr lang="en-US" sz="3462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Misclassified examples often contained mixed topics </a:t>
            </a:r>
          </a:p>
          <a:p>
            <a:pPr algn="l">
              <a:lnSpc>
                <a:spcPts val="4847"/>
              </a:lnSpc>
              <a:spcBef>
                <a:spcPct val="0"/>
              </a:spcBef>
            </a:pPr>
          </a:p>
          <a:p>
            <a:pPr algn="ctr">
              <a:lnSpc>
                <a:spcPts val="5127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160753"/>
            <a:ext cx="10162036" cy="772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b="true" sz="44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Error Analysis &amp; Challenges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41415" y="863511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KEY RESULTS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70904" y="2922900"/>
            <a:ext cx="11091245" cy="5127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4385" indent="-352193" lvl="1">
              <a:lnSpc>
                <a:spcPts val="4567"/>
              </a:lnSpc>
              <a:buFont typeface="Arial"/>
              <a:buChar char="•"/>
            </a:pPr>
            <a:r>
              <a:rPr lang="en-US" b="true" sz="3262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Bias-Variance Analysis:</a:t>
            </a:r>
          </a:p>
          <a:p>
            <a:pPr algn="l" marL="704385" indent="-352193" lvl="1">
              <a:lnSpc>
                <a:spcPts val="4567"/>
              </a:lnSpc>
              <a:buFont typeface="Arial"/>
              <a:buChar char="•"/>
            </a:pPr>
            <a:r>
              <a:rPr lang="en-US" sz="3262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Linea</a:t>
            </a:r>
            <a:r>
              <a:rPr lang="en-US" sz="3262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 models exhibited higher stability (lower variance).</a:t>
            </a:r>
          </a:p>
          <a:p>
            <a:pPr algn="l" marL="704385" indent="-352193" lvl="1">
              <a:lnSpc>
                <a:spcPts val="4567"/>
              </a:lnSpc>
              <a:buFont typeface="Arial"/>
              <a:buChar char="•"/>
            </a:pPr>
            <a:r>
              <a:rPr lang="en-US" sz="3262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Neural Networks showed initial overfitting.</a:t>
            </a:r>
          </a:p>
          <a:p>
            <a:pPr algn="l" marL="704385" indent="-352193" lvl="1">
              <a:lnSpc>
                <a:spcPts val="4567"/>
              </a:lnSpc>
              <a:buFont typeface="Arial"/>
              <a:buChar char="•"/>
            </a:pPr>
            <a:r>
              <a:rPr lang="en-US" b="true" sz="3262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Mitig</a:t>
            </a:r>
            <a:r>
              <a:rPr lang="en-US" b="true" sz="3262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ation Strategies: </a:t>
            </a:r>
          </a:p>
          <a:p>
            <a:pPr algn="l" marL="704385" indent="-352193" lvl="1">
              <a:lnSpc>
                <a:spcPts val="4567"/>
              </a:lnSpc>
              <a:buFont typeface="Arial"/>
              <a:buChar char="•"/>
            </a:pPr>
            <a:r>
              <a:rPr lang="en-US" sz="3262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L2</a:t>
            </a:r>
            <a:r>
              <a:rPr lang="en-US" sz="3262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Regularization: Applied to weights.</a:t>
            </a:r>
          </a:p>
          <a:p>
            <a:pPr algn="l" marL="704385" indent="-352193" lvl="1">
              <a:lnSpc>
                <a:spcPts val="4567"/>
              </a:lnSpc>
              <a:buFont typeface="Arial"/>
              <a:buChar char="•"/>
            </a:pPr>
            <a:r>
              <a:rPr lang="en-US" sz="3262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Dropout: Used in MLP layers.</a:t>
            </a:r>
          </a:p>
          <a:p>
            <a:pPr algn="l" marL="704385" indent="-352193" lvl="1">
              <a:lnSpc>
                <a:spcPts val="4567"/>
              </a:lnSpc>
              <a:spcBef>
                <a:spcPct val="0"/>
              </a:spcBef>
              <a:buFont typeface="Arial"/>
              <a:buChar char="•"/>
            </a:pPr>
            <a:r>
              <a:rPr lang="en-US" sz="3262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Early Stopping: Prevented training on noise.</a:t>
            </a:r>
          </a:p>
          <a:p>
            <a:pPr algn="ctr">
              <a:lnSpc>
                <a:spcPts val="4567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160753"/>
            <a:ext cx="10162036" cy="772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b="true" sz="44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Overfitting &amp; Regularization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190736" y="2652205"/>
            <a:ext cx="6790431" cy="4982589"/>
          </a:xfrm>
          <a:custGeom>
            <a:avLst/>
            <a:gdLst/>
            <a:ahLst/>
            <a:cxnLst/>
            <a:rect r="r" b="b" t="t" l="l"/>
            <a:pathLst>
              <a:path h="4982589" w="6790431">
                <a:moveTo>
                  <a:pt x="0" y="0"/>
                </a:moveTo>
                <a:lnTo>
                  <a:pt x="6790432" y="0"/>
                </a:lnTo>
                <a:lnTo>
                  <a:pt x="6790432" y="4982590"/>
                </a:lnTo>
                <a:lnTo>
                  <a:pt x="0" y="49825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41415" y="256254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91468" y="1865726"/>
            <a:ext cx="16105065" cy="6955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b="true" sz="32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Key Insight:</a:t>
            </a:r>
          </a:p>
          <a:p>
            <a:pPr algn="just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Feature representation (TF-IDF vs BoW) had a bigger impact on performance than algorithm choice.</a:t>
            </a:r>
          </a:p>
          <a:p>
            <a:pPr algn="just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The dataset exhibited strong lexical separability.</a:t>
            </a:r>
          </a:p>
          <a:p>
            <a:pPr algn="just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b="true" sz="32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Lessons Learned:</a:t>
            </a:r>
          </a:p>
          <a:p>
            <a:pPr algn="just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Preprocessing is critical for agglutinative languages like Turkish.</a:t>
            </a:r>
          </a:p>
          <a:p>
            <a:pPr algn="just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Rigorous evaluation (beyond simple accuracy) is needed for real-world reliability.</a:t>
            </a:r>
          </a:p>
          <a:p>
            <a:pPr algn="just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b="true" sz="326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Future Work: </a:t>
            </a:r>
          </a:p>
          <a:p>
            <a:pPr algn="just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Implement Transformer-based models (BERT/T5).</a:t>
            </a:r>
          </a:p>
          <a:p>
            <a:pPr algn="just" marL="705747" indent="-352873" lvl="1">
              <a:lnSpc>
                <a:spcPts val="4576"/>
              </a:lnSpc>
              <a:spcBef>
                <a:spcPct val="0"/>
              </a:spcBef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Expand dataset size and diversity.</a:t>
            </a:r>
          </a:p>
          <a:p>
            <a:pPr algn="ctr">
              <a:lnSpc>
                <a:spcPts val="4576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DAG97g_7038</dc:identifier>
  <dcterms:modified xsi:type="dcterms:W3CDTF">2011-08-01T06:04:30Z</dcterms:modified>
  <cp:revision>1</cp:revision>
  <dc:title>Laernıng From dATA Project</dc:title>
</cp:coreProperties>
</file>